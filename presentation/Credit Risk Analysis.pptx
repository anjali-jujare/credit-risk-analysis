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4"/>
  </p:sldMasterIdLst>
  <p:notesMasterIdLst>
    <p:notesMasterId r:id="rId21"/>
  </p:notesMasterIdLst>
  <p:handoutMasterIdLst>
    <p:handoutMasterId r:id="rId22"/>
  </p:handoutMasterIdLst>
  <p:sldIdLst>
    <p:sldId id="256" r:id="rId5"/>
    <p:sldId id="343" r:id="rId6"/>
    <p:sldId id="345" r:id="rId7"/>
    <p:sldId id="346" r:id="rId8"/>
    <p:sldId id="336" r:id="rId9"/>
    <p:sldId id="348" r:id="rId10"/>
    <p:sldId id="349" r:id="rId11"/>
    <p:sldId id="350" r:id="rId12"/>
    <p:sldId id="351" r:id="rId13"/>
    <p:sldId id="352" r:id="rId14"/>
    <p:sldId id="353" r:id="rId15"/>
    <p:sldId id="354" r:id="rId16"/>
    <p:sldId id="355" r:id="rId17"/>
    <p:sldId id="358" r:id="rId18"/>
    <p:sldId id="357" r:id="rId19"/>
    <p:sldId id="35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934"/>
  </p:normalViewPr>
  <p:slideViewPr>
    <p:cSldViewPr snapToGrid="0">
      <p:cViewPr>
        <p:scale>
          <a:sx n="91" d="100"/>
          <a:sy n="91" d="100"/>
        </p:scale>
        <p:origin x="3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F03B4C-7222-461B-BA71-2B563A4495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015D50-859B-4A21-BBA7-D227472F19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B51ED0-8724-4321-9903-1B6C4397769A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4EAD1-5CAB-421B-B5BB-2FAE33EA58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925FF-73DD-4112-9C15-8EAFF2E8C9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71AD-4225-439B-B0AF-FF523CEDED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0384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14778D-F34E-4BE4-9B6B-598D2E739C81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553C36-AE66-42A1-BA56-51FF7F8C86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386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E97784-7039-4228-BFF4-3B8CC884FD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1171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E0CC0-2173-EF5A-2672-9E885B1D0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38C895-FC50-5213-7D33-CF51993FD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CE0E86-6D22-B7CF-C8AA-81C48A011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CE92A-E81A-9089-F824-D304D3D71D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E97784-7039-4228-BFF4-3B8CC884FD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4379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E776C-7C1E-FFAA-2695-57EB05061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4E8761-1CF8-554F-A648-AA457D89C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EF1869-4660-5262-50B2-1AF187AEC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B76A9-C326-4C4B-5A16-F09CB22D22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E97784-7039-4228-BFF4-3B8CC884FD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2959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593465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791E8DE-0B9D-43A1-8977-59BEEC2C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3337" y="643464"/>
            <a:ext cx="6269159" cy="557107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DABDA3-AA10-4304-B3C8-D5B655DE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631" y="1621998"/>
            <a:ext cx="5068567" cy="1301390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 descr="Tag=AccentColor&#10;Flavor=Light&#10;Target=Text">
            <a:extLst>
              <a:ext uri="{FF2B5EF4-FFF2-40B4-BE49-F238E27FC236}">
                <a16:creationId xmlns:a16="http://schemas.microsoft.com/office/drawing/2014/main" id="{4CCFCCCF-0AEA-4D36-8B54-4C03F88D7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3633" y="3109652"/>
            <a:ext cx="5068567" cy="2395623"/>
          </a:xfrm>
        </p:spPr>
        <p:txBody>
          <a:bodyPr anchor="ctr">
            <a:norm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ct val="150000"/>
              </a:lnSpc>
            </a:pPr>
            <a:r>
              <a:rPr lang="en-US">
                <a:cs typeface="Calibri"/>
              </a:rPr>
              <a:t>Click to edit Master subtitle style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7D11998-188A-4F5B-9931-8BA54D2802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56500" y="641350"/>
            <a:ext cx="3998913" cy="2626784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60F109E5-BC65-4431-A2E5-4A145EC7B3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54913" y="3606263"/>
            <a:ext cx="4000500" cy="260826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304C15-0285-4F2C-8EFE-569AD8088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6116" y="809244"/>
            <a:ext cx="5943600" cy="523951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88504-58DC-4D6A-A3A2-46BBE92E4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7796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Date Placeholder 17">
            <a:extLst>
              <a:ext uri="{FF2B5EF4-FFF2-40B4-BE49-F238E27FC236}">
                <a16:creationId xmlns:a16="http://schemas.microsoft.com/office/drawing/2014/main" id="{A7F1F606-F241-4665-957D-1EA108900290}"/>
              </a:ext>
            </a:extLst>
          </p:cNvPr>
          <p:cNvSpPr txBox="1">
            <a:spLocks/>
          </p:cNvSpPr>
          <p:nvPr userDrawn="1"/>
        </p:nvSpPr>
        <p:spPr>
          <a:xfrm>
            <a:off x="3000676" y="687140"/>
            <a:ext cx="1554480" cy="5272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r>
              <a:rPr lang="en-US" sz="1300" dirty="0">
                <a:solidFill>
                  <a:schemeClr val="bg1"/>
                </a:solidFill>
              </a:rPr>
              <a:t>Credit Card Risk Analysis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EAC8BD-D27F-41DF-AA93-5F9675828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32096" y="640855"/>
            <a:ext cx="1691640" cy="645295"/>
            <a:chOff x="2932096" y="640855"/>
            <a:chExt cx="1691640" cy="64529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9CEAE44-9527-4308-A77C-6C47315AD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2932096" y="640855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BD50130-2E7D-4DC0-8382-B3958A9450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4623736" y="640855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955D961-339B-49BE-9281-3A8E81953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2932096" y="1286150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Footer Placeholder 18">
            <a:extLst>
              <a:ext uri="{FF2B5EF4-FFF2-40B4-BE49-F238E27FC236}">
                <a16:creationId xmlns:a16="http://schemas.microsoft.com/office/drawing/2014/main" id="{D2BAF328-75D1-490D-BF37-96EE6C0843E2}"/>
              </a:ext>
            </a:extLst>
          </p:cNvPr>
          <p:cNvSpPr txBox="1">
            <a:spLocks/>
          </p:cNvSpPr>
          <p:nvPr userDrawn="1"/>
        </p:nvSpPr>
        <p:spPr>
          <a:xfrm>
            <a:off x="1243632" y="5641118"/>
            <a:ext cx="5068569" cy="3108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r>
              <a:rPr lang="en-US" dirty="0" err="1">
                <a:solidFill>
                  <a:schemeClr val="bg1"/>
                </a:solidFill>
              </a:rPr>
              <a:t>Ms</a:t>
            </a:r>
            <a:r>
              <a:rPr lang="en-US" dirty="0">
                <a:solidFill>
                  <a:schemeClr val="bg1"/>
                </a:solidFill>
              </a:rPr>
              <a:t> Anjali Jujare</a:t>
            </a:r>
          </a:p>
        </p:txBody>
      </p:sp>
      <p:sp>
        <p:nvSpPr>
          <p:cNvPr id="18" name="Slide Number Placeholder 21">
            <a:extLst>
              <a:ext uri="{FF2B5EF4-FFF2-40B4-BE49-F238E27FC236}">
                <a16:creationId xmlns:a16="http://schemas.microsoft.com/office/drawing/2014/main" id="{5A2A2B37-48E8-4C00-91B4-63F0C7AAE23F}"/>
              </a:ext>
            </a:extLst>
          </p:cNvPr>
          <p:cNvSpPr txBox="1">
            <a:spLocks/>
          </p:cNvSpPr>
          <p:nvPr userDrawn="1"/>
        </p:nvSpPr>
        <p:spPr>
          <a:xfrm>
            <a:off x="9443794" y="6392314"/>
            <a:ext cx="2111881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70B1FE82-5036-4003-B709-0840DA750BBE}" type="slidenum">
              <a:rPr lang="en-US" smtClean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rPr>
              <a:pPr defTabSz="914400">
                <a:defRPr/>
              </a:pPr>
              <a:t>‹#›</a:t>
            </a:fld>
            <a:endParaRPr lang="en-US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76324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202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5B0C2F6-1B8C-43CC-92A5-2D5502929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3349" y="648230"/>
            <a:ext cx="10905302" cy="19970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983D5E-8A96-4276-9D60-66D16276D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057275"/>
            <a:ext cx="10366743" cy="123589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4707CC-694D-4162-B68A-B7D9345B3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6196" y="814657"/>
            <a:ext cx="10579608" cy="1664208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079F8F29-0E9E-49F7-93F4-FCC8C82EE1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2884815"/>
            <a:ext cx="2279650" cy="25527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9925214F-17A5-4C60-AADE-6A1BC12989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" y="5635244"/>
            <a:ext cx="2279649" cy="350292"/>
          </a:xfrm>
        </p:spPr>
        <p:txBody>
          <a:bodyPr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7">
            <a:extLst>
              <a:ext uri="{FF2B5EF4-FFF2-40B4-BE49-F238E27FC236}">
                <a16:creationId xmlns:a16="http://schemas.microsoft.com/office/drawing/2014/main" id="{10700E3A-7CD7-4A3D-BA94-0E5BCAC92A8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5912412"/>
            <a:ext cx="2279649" cy="350292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2E6EB481-2A99-4088-95C0-0D5BAFDFF02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96066" y="2884815"/>
            <a:ext cx="2279650" cy="25527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7">
            <a:extLst>
              <a:ext uri="{FF2B5EF4-FFF2-40B4-BE49-F238E27FC236}">
                <a16:creationId xmlns:a16="http://schemas.microsoft.com/office/drawing/2014/main" id="{4097BC1F-331F-4D57-993D-EFBB792275D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96067" y="5635244"/>
            <a:ext cx="2279649" cy="350292"/>
          </a:xfrm>
        </p:spPr>
        <p:txBody>
          <a:bodyPr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CC61962-73A1-4768-8408-43E07ED2C1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96067" y="5912412"/>
            <a:ext cx="2279649" cy="350292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8013A142-804D-471C-B2DD-DEC1B8C5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095" y="6296388"/>
            <a:ext cx="581660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A231814F-4139-4547-9058-18BF9C9E88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2532" y="2884815"/>
            <a:ext cx="2279650" cy="25527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A6CD17BC-BF82-4EF5-8F4B-8D615A2FD24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82535" y="5635244"/>
            <a:ext cx="2279649" cy="350292"/>
          </a:xfrm>
        </p:spPr>
        <p:txBody>
          <a:bodyPr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CA5F4D35-7EF1-463D-8005-F3950B6541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82535" y="5912412"/>
            <a:ext cx="2279649" cy="350292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6CDB3226-AAE1-4106-A166-12BCFA73DA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69001" y="2884815"/>
            <a:ext cx="2279650" cy="25527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3CD8083-90C5-4685-A286-1A99E5DC31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69002" y="5635244"/>
            <a:ext cx="2279649" cy="350292"/>
          </a:xfrm>
        </p:spPr>
        <p:txBody>
          <a:bodyPr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5FB222BC-D05B-4E76-A0DC-25657322AF8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269002" y="5912412"/>
            <a:ext cx="2279649" cy="350292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6FBB75-8D79-4225-A448-37C04F053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192658" y="3310653"/>
            <a:ext cx="0" cy="1747157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C41CC5-2A7C-4774-98CE-C7212DFDC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79124" y="3310653"/>
            <a:ext cx="0" cy="1747157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861725-0EF3-4133-B06C-063F42B11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965590" y="3310653"/>
            <a:ext cx="0" cy="1747157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Date Placeholder 3">
            <a:extLst>
              <a:ext uri="{FF2B5EF4-FFF2-40B4-BE49-F238E27FC236}">
                <a16:creationId xmlns:a16="http://schemas.microsoft.com/office/drawing/2014/main" id="{7FDBCC4A-1C49-4C93-AD45-AD78087E23D6}"/>
              </a:ext>
            </a:extLst>
          </p:cNvPr>
          <p:cNvSpPr txBox="1">
            <a:spLocks/>
          </p:cNvSpPr>
          <p:nvPr userDrawn="1"/>
        </p:nvSpPr>
        <p:spPr>
          <a:xfrm>
            <a:off x="7684497" y="6296388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20XX</a:t>
            </a:r>
          </a:p>
        </p:txBody>
      </p: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5EB09A52-50AB-4593-BCB7-23D4AEC88507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0537721" y="6286556"/>
            <a:ext cx="838200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55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4A46BB-9B50-4F09-9059-DA78048129D4}"/>
              </a:ext>
            </a:extLst>
          </p:cNvPr>
          <p:cNvSpPr/>
          <p:nvPr userDrawn="1"/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6F410-6A1D-427A-8C06-A0023004F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793" y="2735221"/>
            <a:ext cx="4775075" cy="85121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DF1FF2-5B9A-4BE9-AD3C-F215F0D25F7A}"/>
              </a:ext>
            </a:extLst>
          </p:cNvPr>
          <p:cNvSpPr/>
          <p:nvPr userDrawn="1"/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4FC6A22-F9EC-4E20-B9CC-F012FA8E4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Click to edit Master subtitle style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Date Placeholder 17">
            <a:extLst>
              <a:ext uri="{FF2B5EF4-FFF2-40B4-BE49-F238E27FC236}">
                <a16:creationId xmlns:a16="http://schemas.microsoft.com/office/drawing/2014/main" id="{ABF19E1F-D7E9-4D44-9873-8D8DDC338F7E}"/>
              </a:ext>
            </a:extLst>
          </p:cNvPr>
          <p:cNvSpPr txBox="1">
            <a:spLocks/>
          </p:cNvSpPr>
          <p:nvPr userDrawn="1"/>
        </p:nvSpPr>
        <p:spPr>
          <a:xfrm>
            <a:off x="7369770" y="2040249"/>
            <a:ext cx="2103120" cy="3152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r>
              <a:rPr lang="en-US" sz="1300" dirty="0">
                <a:solidFill>
                  <a:schemeClr val="bg1"/>
                </a:solidFill>
              </a:rPr>
              <a:t>20XX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3C72E99-B7BE-4F82-AD93-38765570DB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5695067 w 12192000"/>
              <a:gd name="connsiteY0" fmla="*/ 1808532 h 6858000"/>
              <a:gd name="connsiteX1" fmla="*/ 5695067 w 12192000"/>
              <a:gd name="connsiteY1" fmla="*/ 5049468 h 6858000"/>
              <a:gd name="connsiteX2" fmla="*/ 11147594 w 12192000"/>
              <a:gd name="connsiteY2" fmla="*/ 5049468 h 6858000"/>
              <a:gd name="connsiteX3" fmla="*/ 11147594 w 12192000"/>
              <a:gd name="connsiteY3" fmla="*/ 1808532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5695067" y="1808532"/>
                </a:moveTo>
                <a:lnTo>
                  <a:pt x="5695067" y="5049468"/>
                </a:lnTo>
                <a:lnTo>
                  <a:pt x="11147594" y="5049468"/>
                </a:lnTo>
                <a:lnTo>
                  <a:pt x="11147594" y="1808532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54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9982C2-1320-41E5-A31C-D8DA5C8A4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563FB1-76A9-4E53-9493-2B8680D68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8" y="0"/>
            <a:ext cx="4651122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innerShdw blurRad="63500" dist="31750">
              <a:prstClr val="black">
                <a:alpha val="4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8F116A-4F5C-40E2-836F-919B8B939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72" y="4123592"/>
            <a:ext cx="4654296" cy="9144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27D978-81FB-4612-81AA-B7123E0D5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84289" y="0"/>
            <a:ext cx="91440" cy="420624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0DC717-7560-4850-A68A-A881C97F3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84289" y="2057400"/>
            <a:ext cx="2377440" cy="9144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F22527-F181-4C80-9977-C9894355C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14028" y="971453"/>
            <a:ext cx="5623560" cy="4910328"/>
          </a:xfrm>
          <a:prstGeom prst="rect">
            <a:avLst/>
          </a:prstGeom>
          <a:noFill/>
          <a:ln w="6350" cap="sq" cmpd="sng" algn="ctr">
            <a:solidFill>
              <a:schemeClr val="bg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ABAC30-6A2F-4907-8502-17DF9AEEE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48300" y="806861"/>
            <a:ext cx="5955017" cy="5239512"/>
          </a:xfrm>
          <a:prstGeom prst="rect">
            <a:avLst/>
          </a:prstGeom>
          <a:solidFill>
            <a:schemeClr val="tx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C9F96-79A7-44FA-A7FE-C0675B996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1" y="1290294"/>
            <a:ext cx="5116286" cy="13716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D72D6334-ED49-4D79-AAC2-10DCFF6D6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7401" y="2980736"/>
            <a:ext cx="5116286" cy="2712494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z="1800">
                <a:solidFill>
                  <a:schemeClr val="bg1">
                    <a:lumMod val="85000"/>
                    <a:lumOff val="15000"/>
                  </a:schemeClr>
                </a:solidFill>
              </a:rPr>
              <a:t>Click to edit Master subtitle style</a:t>
            </a:r>
            <a:endParaRPr lang="en-US" sz="18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0FE3A1CC-4DE8-4FC6-839D-CD3607B8D426}"/>
              </a:ext>
            </a:extLst>
          </p:cNvPr>
          <p:cNvSpPr txBox="1">
            <a:spLocks/>
          </p:cNvSpPr>
          <p:nvPr userDrawn="1"/>
        </p:nvSpPr>
        <p:spPr>
          <a:xfrm>
            <a:off x="7048099" y="302355"/>
            <a:ext cx="2743200" cy="35078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20XX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9E9A7CA-EE9C-4648-8016-1852440461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5438" y="326697"/>
            <a:ext cx="1636712" cy="34751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F4561B6B-E204-4CF0-AD12-ED21B3940F5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09863" y="329773"/>
            <a:ext cx="1614487" cy="139425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B3BE441E-0CE9-4C44-8783-3A04F5929F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7163" y="2384425"/>
            <a:ext cx="1628775" cy="142398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FBAA901D-39FD-416F-B2B4-F2651AB7918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5438" y="4527550"/>
            <a:ext cx="3998912" cy="20002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4C182815-90D1-446C-BC70-6AB00BED68ED}"/>
              </a:ext>
            </a:extLst>
          </p:cNvPr>
          <p:cNvSpPr txBox="1">
            <a:spLocks/>
          </p:cNvSpPr>
          <p:nvPr userDrawn="1"/>
        </p:nvSpPr>
        <p:spPr>
          <a:xfrm>
            <a:off x="5077003" y="6367925"/>
            <a:ext cx="448056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US" dirty="0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9BDEE55-B4D3-4542-BF01-F05A2C1FB7D6}"/>
              </a:ext>
            </a:extLst>
          </p:cNvPr>
          <p:cNvSpPr txBox="1">
            <a:spLocks/>
          </p:cNvSpPr>
          <p:nvPr userDrawn="1"/>
        </p:nvSpPr>
        <p:spPr>
          <a:xfrm>
            <a:off x="9793460" y="6367925"/>
            <a:ext cx="2111881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2016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973E97-A796-4836-82F6-8A280A57BA6B}"/>
              </a:ext>
            </a:extLst>
          </p:cNvPr>
          <p:cNvSpPr/>
          <p:nvPr userDrawn="1"/>
        </p:nvSpPr>
        <p:spPr>
          <a:xfrm>
            <a:off x="5660112" y="0"/>
            <a:ext cx="6528839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C0DAEE-CCDB-4627-925B-879F83B1F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4166" y="610485"/>
            <a:ext cx="5103661" cy="1371600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9F23A9-0519-4A39-A9F9-F965C17D58A0}"/>
              </a:ext>
            </a:extLst>
          </p:cNvPr>
          <p:cNvSpPr/>
          <p:nvPr userDrawn="1"/>
        </p:nvSpPr>
        <p:spPr>
          <a:xfrm>
            <a:off x="5981848" y="320040"/>
            <a:ext cx="5888736" cy="6217920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F3EB17D9-2389-4D1F-AC98-7CC3F79840B2}"/>
              </a:ext>
            </a:extLst>
          </p:cNvPr>
          <p:cNvSpPr txBox="1">
            <a:spLocks/>
          </p:cNvSpPr>
          <p:nvPr userDrawn="1"/>
        </p:nvSpPr>
        <p:spPr>
          <a:xfrm>
            <a:off x="7554616" y="383781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20XX</a:t>
            </a:r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40E55EFF-7AC0-4ACD-B826-CA1E384CCF4C}"/>
              </a:ext>
            </a:extLst>
          </p:cNvPr>
          <p:cNvSpPr txBox="1">
            <a:spLocks/>
          </p:cNvSpPr>
          <p:nvPr userDrawn="1"/>
        </p:nvSpPr>
        <p:spPr>
          <a:xfrm>
            <a:off x="6303580" y="6214535"/>
            <a:ext cx="4696948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C6C2D606-DD47-4DA7-AF9B-9A8E401BCAFF}"/>
              </a:ext>
            </a:extLst>
          </p:cNvPr>
          <p:cNvSpPr txBox="1">
            <a:spLocks/>
          </p:cNvSpPr>
          <p:nvPr userDrawn="1"/>
        </p:nvSpPr>
        <p:spPr>
          <a:xfrm>
            <a:off x="11104451" y="6214535"/>
            <a:ext cx="605266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4B7E4EF-A1BD-40F4-AB7B-04F084DD991D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623DC60-EE1A-4367-A357-5F11D94225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659438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95E6F1-8633-46DB-A612-89A5079F7EF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72625" y="2108844"/>
            <a:ext cx="5103812" cy="37909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121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24342A2-B2E9-4AE9-9AFD-C5F77777E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86CEFC-AE66-4E11-8B5A-880177E12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6737" y="621793"/>
            <a:ext cx="6651809" cy="561441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DABDA3-AA10-4304-B3C8-D5B655DE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158" y="2100942"/>
            <a:ext cx="5716339" cy="2290607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B1E9D9-0DDD-4554-A021-4FE50439A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23061" y="446824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Date Placeholder 17">
            <a:extLst>
              <a:ext uri="{FF2B5EF4-FFF2-40B4-BE49-F238E27FC236}">
                <a16:creationId xmlns:a16="http://schemas.microsoft.com/office/drawing/2014/main" id="{3B5075EC-8E09-4BB4-8C8F-6177ECD95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5941" y="493108"/>
            <a:ext cx="1554480" cy="527213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algn="ctr" defTabSz="914400">
              <a:defRPr/>
            </a:pPr>
            <a:r>
              <a:rPr lang="en-US" sz="1300" dirty="0"/>
              <a:t>20XX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A8819A-9552-4858-92F8-FB441C3A45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78157" y="4698173"/>
            <a:ext cx="5716339" cy="658674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7432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Footer Placeholder 18">
            <a:extLst>
              <a:ext uri="{FF2B5EF4-FFF2-40B4-BE49-F238E27FC236}">
                <a16:creationId xmlns:a16="http://schemas.microsoft.com/office/drawing/2014/main" id="{D2BAF328-75D1-490D-BF37-96EE6C0843E2}"/>
              </a:ext>
            </a:extLst>
          </p:cNvPr>
          <p:cNvSpPr txBox="1">
            <a:spLocks/>
          </p:cNvSpPr>
          <p:nvPr userDrawn="1"/>
        </p:nvSpPr>
        <p:spPr>
          <a:xfrm>
            <a:off x="1243632" y="5641118"/>
            <a:ext cx="5068569" cy="3108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defRPr/>
            </a:pPr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7D11998-188A-4F5B-9931-8BA54D2802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19974" y="621784"/>
            <a:ext cx="1989495" cy="284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Picture Placeholder 21">
            <a:extLst>
              <a:ext uri="{FF2B5EF4-FFF2-40B4-BE49-F238E27FC236}">
                <a16:creationId xmlns:a16="http://schemas.microsoft.com/office/drawing/2014/main" id="{F268C43A-0DA4-4ECC-A368-08AB69EDAE7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70334" y="627380"/>
            <a:ext cx="1980056" cy="283762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60F109E5-BC65-4431-A2E5-4A145EC7B3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32093" y="3636193"/>
            <a:ext cx="4123320" cy="259442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7F02ED2-9B1A-40C8-A5F7-4473CAA3C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137361" y="446823"/>
            <a:ext cx="1691640" cy="645295"/>
            <a:chOff x="3137361" y="446823"/>
            <a:chExt cx="1691640" cy="645295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8AC6A1-19DE-4EAE-91E5-A9E82CEA3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3137361" y="446823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9AC828E-AA99-4E2C-A30C-D8B9DFF16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4829001" y="446823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62D63C1-826F-42FC-9EC1-0320620BB1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3137361" y="1092118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Slide Number Placeholder 21">
            <a:extLst>
              <a:ext uri="{FF2B5EF4-FFF2-40B4-BE49-F238E27FC236}">
                <a16:creationId xmlns:a16="http://schemas.microsoft.com/office/drawing/2014/main" id="{5A2A2B37-48E8-4C00-91B4-63F0C7AAE23F}"/>
              </a:ext>
            </a:extLst>
          </p:cNvPr>
          <p:cNvSpPr txBox="1">
            <a:spLocks/>
          </p:cNvSpPr>
          <p:nvPr userDrawn="1"/>
        </p:nvSpPr>
        <p:spPr>
          <a:xfrm>
            <a:off x="9443794" y="6392314"/>
            <a:ext cx="2111881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70B1FE82-5036-4003-B709-0840DA750BBE}" type="slidenum">
              <a:rPr lang="en-US" smtClean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rPr>
              <a:pPr defTabSz="914400">
                <a:defRPr/>
              </a:pPr>
              <a:t>‹#›</a:t>
            </a:fld>
            <a:endParaRPr lang="en-US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1261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D0543DF-8CFA-4CBD-AF23-D059985D34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37329 w 12192000"/>
              <a:gd name="connsiteY0" fmla="*/ 941695 h 6858000"/>
              <a:gd name="connsiteX1" fmla="*/ 937329 w 12192000"/>
              <a:gd name="connsiteY1" fmla="*/ 5916305 h 6858000"/>
              <a:gd name="connsiteX2" fmla="*/ 6389856 w 12192000"/>
              <a:gd name="connsiteY2" fmla="*/ 5916305 h 6858000"/>
              <a:gd name="connsiteX3" fmla="*/ 6389856 w 12192000"/>
              <a:gd name="connsiteY3" fmla="*/ 941695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937329" y="941695"/>
                </a:moveTo>
                <a:lnTo>
                  <a:pt x="937329" y="5916305"/>
                </a:lnTo>
                <a:lnTo>
                  <a:pt x="6389856" y="5916305"/>
                </a:lnTo>
                <a:lnTo>
                  <a:pt x="6389856" y="94169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1A2AD8-D5EA-48FD-B19E-788E4D978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7329" y="941695"/>
            <a:ext cx="5452527" cy="49746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82D9D6-0C91-4BAA-B631-B4A597F6D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3272" y="1106424"/>
            <a:ext cx="5120640" cy="464515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6F410-6A1D-427A-8C06-A0023004F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950" y="2197853"/>
            <a:ext cx="4633415" cy="85121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Date Placeholder 7">
            <a:extLst>
              <a:ext uri="{FF2B5EF4-FFF2-40B4-BE49-F238E27FC236}">
                <a16:creationId xmlns:a16="http://schemas.microsoft.com/office/drawing/2014/main" id="{53A572F0-78E4-4979-BD85-E9F315B0C6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91992" y="1162386"/>
            <a:ext cx="2743200" cy="25603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dirty="0"/>
              <a:t>20XX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6F1164-CE64-4728-83B0-E5316C16DF2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57313" y="3308350"/>
            <a:ext cx="4633912" cy="2141632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  <a:lvl2pPr marL="274320" indent="0" algn="ctr">
              <a:buNone/>
              <a:defRPr baseline="0">
                <a:solidFill>
                  <a:schemeClr val="bg1"/>
                </a:solidFill>
              </a:defRPr>
            </a:lvl2pPr>
            <a:lvl3pPr marL="548640" indent="0">
              <a:buNone/>
              <a:defRPr>
                <a:solidFill>
                  <a:schemeClr val="bg1"/>
                </a:solidFill>
              </a:defRPr>
            </a:lvl3pPr>
            <a:lvl4pPr marL="822960" indent="0">
              <a:buNone/>
              <a:defRPr>
                <a:solidFill>
                  <a:schemeClr val="bg1"/>
                </a:solidFill>
              </a:defRPr>
            </a:lvl4pPr>
            <a:lvl5pPr marL="10972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Footer Placeholder 8">
            <a:extLst>
              <a:ext uri="{FF2B5EF4-FFF2-40B4-BE49-F238E27FC236}">
                <a16:creationId xmlns:a16="http://schemas.microsoft.com/office/drawing/2014/main" id="{DEA4EBDD-4088-4396-BD3F-3AB4BEFB2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57950" y="5472763"/>
            <a:ext cx="4636008" cy="256032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848941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904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649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3053588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3053588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9206" y="2074334"/>
            <a:ext cx="3053588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69206" y="2792471"/>
            <a:ext cx="3053588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6D68D58-C9C7-41A5-9F66-57C5771B39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8564" y="2073651"/>
            <a:ext cx="3053588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F3692324-6EEB-4C0A-BF90-7A27FBF6D7B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8564" y="2791788"/>
            <a:ext cx="3053588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762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437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177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894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332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616FFC6-B6FD-417B-BDE1-C6395267D6DB}" type="datetimeFigureOut">
              <a:rPr lang="en-US" smtClean="0"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091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71" r:id="rId2"/>
    <p:sldLayoutId id="2147483660" r:id="rId3"/>
    <p:sldLayoutId id="2147483676" r:id="rId4"/>
    <p:sldLayoutId id="2147483673" r:id="rId5"/>
    <p:sldLayoutId id="2147483677" r:id="rId6"/>
    <p:sldLayoutId id="2147483672" r:id="rId7"/>
    <p:sldLayoutId id="2147483675" r:id="rId8"/>
    <p:sldLayoutId id="2147483678" r:id="rId9"/>
    <p:sldLayoutId id="2147483662" r:id="rId10"/>
    <p:sldLayoutId id="2147483663" r:id="rId11"/>
    <p:sldLayoutId id="2147483670" r:id="rId12"/>
    <p:sldLayoutId id="2147483664" r:id="rId13"/>
    <p:sldLayoutId id="2147483665" r:id="rId14"/>
    <p:sldLayoutId id="2147483666" r:id="rId15"/>
    <p:sldLayoutId id="2147483667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>
            <a:normAutofit/>
          </a:bodyPr>
          <a:lstStyle/>
          <a:p>
            <a:r>
              <a:rPr lang="en-IN" dirty="0"/>
              <a:t>Credit Risk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/>
          <a:lstStyle/>
          <a:p>
            <a:r>
              <a:rPr lang="en-US" dirty="0"/>
              <a:t>Anjali Jujare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ED049-E4D9-ADBA-4383-1CC88D289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B4ED6-14E5-75B2-3D7D-D80B83DB2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9103" y="2244829"/>
            <a:ext cx="8933796" cy="557093"/>
          </a:xfrm>
        </p:spPr>
        <p:txBody>
          <a:bodyPr>
            <a:normAutofit fontScale="90000"/>
          </a:bodyPr>
          <a:lstStyle/>
          <a:p>
            <a:r>
              <a:rPr lang="en-IN" dirty="0"/>
              <a:t>Project Objective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0804E6-E8DA-4EF4-8864-01CCF0610C2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28775" y="3240405"/>
            <a:ext cx="586301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identify key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risk indicators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influencing loan default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analyze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customer behavioral patterns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study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loan eligibility and repayment patterns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apply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statistical methods for validation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provide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data-driven lending recommendations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8664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3F2A1-0B73-16CF-84E9-DC75529C0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6936B-3685-C29A-DDB6-4B732AC1E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9102" y="2157890"/>
            <a:ext cx="8933796" cy="557093"/>
          </a:xfrm>
        </p:spPr>
        <p:txBody>
          <a:bodyPr>
            <a:normAutofit fontScale="90000"/>
          </a:bodyPr>
          <a:lstStyle/>
          <a:p>
            <a:r>
              <a:rPr lang="en-IN" dirty="0"/>
              <a:t>Dataset Overview</a:t>
            </a:r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6C0A8F0-8474-EE2B-6D93-605F30D9E5F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72056" y="2714982"/>
            <a:ext cx="625687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Dataset contains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applicant demographic and financial information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Target Variable: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Loan Default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1" algn="l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0 = Non-Defaulter</a:t>
            </a:r>
          </a:p>
          <a:p>
            <a:pPr lvl="1" algn="l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 = Defaulter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Key Features:</a:t>
            </a:r>
          </a:p>
          <a:p>
            <a:pPr lvl="1" algn="l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Income, Credit Amount, Annuity</a:t>
            </a:r>
          </a:p>
          <a:p>
            <a:pPr lvl="1" algn="l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Age</a:t>
            </a:r>
          </a:p>
          <a:p>
            <a:pPr lvl="1" algn="l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Housing Type, Occupation</a:t>
            </a:r>
          </a:p>
          <a:p>
            <a:pPr lvl="1" algn="l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External Credit Scores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211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16D02-8B79-DA46-D87B-B77C2CB43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AD548-A07F-E3A0-9553-3F96509C2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9102" y="2157890"/>
            <a:ext cx="8933796" cy="557093"/>
          </a:xfrm>
        </p:spPr>
        <p:txBody>
          <a:bodyPr>
            <a:noAutofit/>
          </a:bodyPr>
          <a:lstStyle/>
          <a:p>
            <a:r>
              <a:rPr lang="en-IN" sz="4400" dirty="0"/>
              <a:t>Data Cleaning &amp; Feature Engineering</a:t>
            </a:r>
            <a:endParaRPr lang="en-US" sz="44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1235072-47F6-1D3E-05F7-865E288C47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908828" y="2714983"/>
            <a:ext cx="5680658" cy="253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dirty="0"/>
              <a:t>Missing values handled using </a:t>
            </a:r>
            <a:r>
              <a:rPr lang="en-US" sz="1600" b="1" dirty="0"/>
              <a:t>median and mode imputation</a:t>
            </a:r>
            <a:endParaRPr lang="en-US" sz="1600" dirty="0"/>
          </a:p>
          <a:p>
            <a:pPr algn="l"/>
            <a:r>
              <a:rPr lang="en-US" sz="1600" dirty="0"/>
              <a:t>Converted </a:t>
            </a:r>
            <a:r>
              <a:rPr lang="en-US" sz="1600" b="1" dirty="0"/>
              <a:t>DAYS variables into YEARS</a:t>
            </a:r>
            <a:r>
              <a:rPr lang="en-US" sz="1600" dirty="0"/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/>
              <a:t>Age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/>
              <a:t>Employment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/>
              <a:t>Registration</a:t>
            </a:r>
          </a:p>
          <a:p>
            <a:pPr algn="l"/>
            <a:r>
              <a:rPr lang="en-US" sz="1600" dirty="0"/>
              <a:t>Removed </a:t>
            </a:r>
            <a:r>
              <a:rPr lang="en-US" sz="1600" b="1" dirty="0"/>
              <a:t>irrelevant and highly missing columns</a:t>
            </a:r>
            <a:endParaRPr lang="en-US" sz="1600" dirty="0"/>
          </a:p>
          <a:p>
            <a:pPr algn="l"/>
            <a:r>
              <a:rPr lang="en-US" sz="1600" dirty="0"/>
              <a:t>Treated </a:t>
            </a:r>
            <a:r>
              <a:rPr lang="en-US" sz="1600" b="1" dirty="0"/>
              <a:t>outliers using IQR method</a:t>
            </a:r>
            <a:endParaRPr lang="en-US" sz="1600" dirty="0"/>
          </a:p>
          <a:p>
            <a:pPr algn="l"/>
            <a:r>
              <a:rPr lang="en-US" sz="1600" dirty="0"/>
              <a:t>Final cleaned dataset prepared for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797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64E38512-4E29-43C5-8F97-DD4064477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743" y="1009602"/>
            <a:ext cx="5068567" cy="1301390"/>
          </a:xfrm>
        </p:spPr>
        <p:txBody>
          <a:bodyPr>
            <a:normAutofit/>
          </a:bodyPr>
          <a:lstStyle/>
          <a:p>
            <a:r>
              <a:rPr lang="en-IN" sz="3600" dirty="0"/>
              <a:t>Univariate Analysis</a:t>
            </a:r>
            <a:endParaRPr lang="en-US" sz="3600" dirty="0"/>
          </a:p>
        </p:txBody>
      </p:sp>
      <p:sp>
        <p:nvSpPr>
          <p:cNvPr id="41" name="Subtitle 40">
            <a:extLst>
              <a:ext uri="{FF2B5EF4-FFF2-40B4-BE49-F238E27FC236}">
                <a16:creationId xmlns:a16="http://schemas.microsoft.com/office/drawing/2014/main" id="{AB0FF8CA-EE35-46AC-9CFA-C5C91CBF5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9743" y="2248251"/>
            <a:ext cx="5068567" cy="3466750"/>
          </a:xfrm>
        </p:spPr>
        <p:txBody>
          <a:bodyPr>
            <a:normAutofit fontScale="70000" lnSpcReduction="20000"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sz="2500" b="1" dirty="0"/>
              <a:t>Income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As we can see the below graph is rightly skewed. We can </a:t>
            </a:r>
            <a:r>
              <a:rPr lang="en-US" sz="2200" dirty="0" err="1">
                <a:solidFill>
                  <a:schemeClr val="bg1"/>
                </a:solidFill>
              </a:rPr>
              <a:t>analyse</a:t>
            </a:r>
            <a:r>
              <a:rPr lang="en-US" sz="2200" dirty="0">
                <a:solidFill>
                  <a:schemeClr val="bg1"/>
                </a:solidFill>
              </a:rPr>
              <a:t> that most of the people’s income range from low to medium apply for credit card the most.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Hence, we can say that most of the applicants belongs to the group of low to medium total income.</a:t>
            </a:r>
            <a:endParaRPr lang="en-IN" sz="2200" dirty="0">
              <a:solidFill>
                <a:schemeClr val="bg1"/>
              </a:solidFill>
            </a:endParaRP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sz="2500" b="1" dirty="0"/>
              <a:t>Credit amount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As we can see the peak of bars is mostly on the left side, that means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Most applicants take moderate credit amounts, while very high-value loans are less frequent</a:t>
            </a:r>
          </a:p>
          <a:p>
            <a:pPr lvl="0" algn="l"/>
            <a:br>
              <a:rPr lang="en-IN" dirty="0"/>
            </a:br>
            <a:r>
              <a:rPr lang="en-US" dirty="0"/>
              <a:t> 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7986B36-AE7C-E990-FB5D-EC0705DC65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33FA716-5B6A-799E-13FB-A60C080D629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1E8F8D00-80FB-86C2-9487-A8DD9AA4B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031" y="560917"/>
            <a:ext cx="4132262" cy="278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>
            <a:extLst>
              <a:ext uri="{FF2B5EF4-FFF2-40B4-BE49-F238E27FC236}">
                <a16:creationId xmlns:a16="http://schemas.microsoft.com/office/drawing/2014/main" id="{CF6B8B0F-9821-C4FB-5FF4-0BC152361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031" y="3429000"/>
            <a:ext cx="4132262" cy="3192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595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2F595-716D-8752-E63E-80015626F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D13DB6-DA77-728A-713D-C6E329A66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633" y="702030"/>
            <a:ext cx="5068567" cy="1301390"/>
          </a:xfrm>
        </p:spPr>
        <p:txBody>
          <a:bodyPr>
            <a:normAutofit/>
          </a:bodyPr>
          <a:lstStyle/>
          <a:p>
            <a:r>
              <a:rPr lang="en-IN" sz="3600" dirty="0"/>
              <a:t>Univariate Analysis</a:t>
            </a:r>
            <a:endParaRPr lang="en-US" sz="3600" dirty="0"/>
          </a:p>
        </p:txBody>
      </p:sp>
      <p:sp>
        <p:nvSpPr>
          <p:cNvPr id="41" name="Subtitle 40">
            <a:extLst>
              <a:ext uri="{FF2B5EF4-FFF2-40B4-BE49-F238E27FC236}">
                <a16:creationId xmlns:a16="http://schemas.microsoft.com/office/drawing/2014/main" id="{A77C2ECD-7F03-460D-AD05-6082FEFC5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3633" y="2003420"/>
            <a:ext cx="5068567" cy="3717872"/>
          </a:xfrm>
        </p:spPr>
        <p:txBody>
          <a:bodyPr>
            <a:normAutofit fontScale="47500" lnSpcReduction="20000"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sz="3800" b="1" dirty="0"/>
              <a:t>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bg1"/>
                </a:solidFill>
              </a:rPr>
              <a:t>As we can interpret from the below graph very few young age and old age people apply for loan.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bg1"/>
                </a:solidFill>
              </a:rPr>
              <a:t>Most of the applicants belong to the working-age group (from 30 to 50)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3800" b="1" dirty="0"/>
              <a:t>Annuity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bg1"/>
                </a:solidFill>
              </a:rPr>
              <a:t>The below graph shows how many people actually have monthly loan repayment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bg1"/>
                </a:solidFill>
              </a:rPr>
              <a:t> Very few people have EMI above ₹50,000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bg1"/>
                </a:solidFill>
              </a:rPr>
              <a:t>Most applicants have monthly EMI between ₹10,000 and ₹30,000.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bg1"/>
                </a:solidFill>
              </a:rPr>
              <a:t>The highest concentration of applicants is around ₹15,000–₹25,000 EMI.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bg1"/>
                </a:solidFill>
              </a:rPr>
              <a:t>Most people pay low to moderate EMI, and only a small number pay very high EMI.</a:t>
            </a:r>
            <a:endParaRPr lang="en-IN" sz="2900" dirty="0">
              <a:solidFill>
                <a:schemeClr val="bg1"/>
              </a:solidFill>
            </a:endParaRPr>
          </a:p>
          <a:p>
            <a:pPr marL="285750" lvl="0" indent="-285750" algn="l">
              <a:buFont typeface="Arial" panose="020B0604020202020204" pitchFamily="34" charset="0"/>
              <a:buChar char="•"/>
            </a:pPr>
            <a:br>
              <a:rPr lang="en-IN" dirty="0"/>
            </a:br>
            <a:r>
              <a:rPr lang="en-US" dirty="0"/>
              <a:t> 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A5909F7-B28D-90DF-BB17-099F07BEBF4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8E5E0C6-4A22-D9F7-6407-3B2D31CD3E4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D0B5E907-0DB6-302B-BD1A-131361EE6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031" y="259423"/>
            <a:ext cx="4132263" cy="3089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4A9E3986-E142-2C3F-1BA5-8B20EF540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031" y="3406421"/>
            <a:ext cx="4132263" cy="3192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5741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4CE70-B13F-DDB0-2AEF-CC5CAE7E1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E60C19F8-9F5A-66A1-B3E5-87AD6A81A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7446" y="1000387"/>
            <a:ext cx="4538737" cy="887138"/>
          </a:xfrm>
        </p:spPr>
        <p:txBody>
          <a:bodyPr>
            <a:normAutofit/>
          </a:bodyPr>
          <a:lstStyle/>
          <a:p>
            <a:r>
              <a:rPr lang="en-IN" sz="2800" dirty="0"/>
              <a:t>Univariate Analysis</a:t>
            </a:r>
            <a:endParaRPr lang="en-US" sz="2800" dirty="0"/>
          </a:p>
        </p:txBody>
      </p:sp>
      <p:sp>
        <p:nvSpPr>
          <p:cNvPr id="41" name="Subtitle 40">
            <a:extLst>
              <a:ext uri="{FF2B5EF4-FFF2-40B4-BE49-F238E27FC236}">
                <a16:creationId xmlns:a16="http://schemas.microsoft.com/office/drawing/2014/main" id="{28736708-A281-113B-476A-C22CBF603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3633" y="2088859"/>
            <a:ext cx="5068567" cy="3649212"/>
          </a:xfrm>
        </p:spPr>
        <p:txBody>
          <a:bodyPr>
            <a:normAutofit fontScale="47500" lnSpcReduction="20000"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sz="2900" b="1" dirty="0"/>
              <a:t>Education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</a:rPr>
              <a:t>Most applicants have “Secondary / secondary special” education.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</a:rPr>
              <a:t>The second largest group is applicants with Higher education.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</a:rPr>
              <a:t>Very few applicants belong to:</a:t>
            </a:r>
          </a:p>
          <a:p>
            <a:pPr marL="1017270" lvl="2" indent="-28575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</a:rPr>
              <a:t>Incomplete higher education</a:t>
            </a:r>
          </a:p>
          <a:p>
            <a:pPr marL="1017270" lvl="2" indent="-28575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</a:rPr>
              <a:t>Lower secondary</a:t>
            </a:r>
          </a:p>
          <a:p>
            <a:pPr marL="1017270" lvl="2" indent="-285750">
              <a:buFont typeface="Arial" panose="020B0604020202020204" pitchFamily="34" charset="0"/>
              <a:buChar char="•"/>
            </a:pPr>
            <a:r>
              <a:rPr lang="en-US" sz="2500" dirty="0" err="1">
                <a:solidFill>
                  <a:schemeClr val="bg1"/>
                </a:solidFill>
              </a:rPr>
              <a:t>Acaedemic</a:t>
            </a:r>
            <a:r>
              <a:rPr lang="en-US" sz="2500" dirty="0">
                <a:solidFill>
                  <a:schemeClr val="bg1"/>
                </a:solidFill>
              </a:rPr>
              <a:t> Degree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900" b="1" dirty="0"/>
              <a:t>Loan Default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</a:rPr>
              <a:t>The number of Non-Defaulters (0) is much higher than the number of Defaulters (1).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</a:rPr>
              <a:t>Most applicants repay their loans successfully.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</a:rPr>
              <a:t>The bank’s overall loan performance is good, since most customers repay.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</a:rPr>
              <a:t>The small defaulter group still causes major financial risk</a:t>
            </a:r>
            <a:r>
              <a:rPr lang="en-US" sz="2900" dirty="0">
                <a:solidFill>
                  <a:schemeClr val="bg1"/>
                </a:solidFill>
              </a:rPr>
              <a:t>.</a:t>
            </a:r>
            <a:br>
              <a:rPr lang="en-IN" dirty="0"/>
            </a:br>
            <a:r>
              <a:rPr lang="en-US" dirty="0"/>
              <a:t> 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2C213C5-81EB-C5E9-B3CC-2928075633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E029FC5-D215-6799-02CB-65DDC59A36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77ADBF2-2B7D-B9DA-1900-FD18B0308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031" y="284659"/>
            <a:ext cx="4132263" cy="3085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200C8742-5D7C-2308-3ABC-55076767F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031" y="3429000"/>
            <a:ext cx="4238779" cy="3096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7432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2EC1C-9E46-B5A8-06FD-D57EFE906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632" y="1573111"/>
            <a:ext cx="5068567" cy="591249"/>
          </a:xfrm>
        </p:spPr>
        <p:txBody>
          <a:bodyPr>
            <a:normAutofit/>
          </a:bodyPr>
          <a:lstStyle/>
          <a:p>
            <a:r>
              <a:rPr lang="en-US" sz="3200" dirty="0"/>
              <a:t>Bi-variate Analysis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B6202-6FF0-A0A0-BB27-DAF2F1D1D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3633" y="2164360"/>
            <a:ext cx="5068567" cy="3340915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dirty="0"/>
              <a:t>CREDIT AMOUNT vs DEFAULT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Credit amount alone does not clearly separate defaulters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Defaulters &amp; non-defaulters borrow similar loan amounts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Risk increases when high credit combines with low income</a:t>
            </a:r>
            <a:endParaRPr lang="en-IN" sz="1600" b="1" dirty="0"/>
          </a:p>
          <a:p>
            <a:pPr algn="l">
              <a:buFont typeface="Arial" panose="020B0604020202020204" pitchFamily="34" charset="0"/>
              <a:buChar char="•"/>
            </a:pPr>
            <a:endParaRPr lang="en-IN" b="1" dirty="0"/>
          </a:p>
          <a:p>
            <a:pPr algn="l">
              <a:buFont typeface="Arial" panose="020B0604020202020204" pitchFamily="34" charset="0"/>
              <a:buChar char="•"/>
            </a:pPr>
            <a:endParaRPr lang="en-IN" b="1" dirty="0"/>
          </a:p>
        </p:txBody>
      </p:sp>
      <p:pic>
        <p:nvPicPr>
          <p:cNvPr id="6157" name="Picture 13">
            <a:extLst>
              <a:ext uri="{FF2B5EF4-FFF2-40B4-BE49-F238E27FC236}">
                <a16:creationId xmlns:a16="http://schemas.microsoft.com/office/drawing/2014/main" id="{B38FCF95-B405-67F0-0241-CD4902F36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453" y="1583877"/>
            <a:ext cx="4834636" cy="3690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600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9C644-8772-3B5B-DBCB-B931F1FB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C8B34-081F-03F8-4D36-DDA6706EA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632" y="1573111"/>
            <a:ext cx="5068567" cy="591249"/>
          </a:xfrm>
        </p:spPr>
        <p:txBody>
          <a:bodyPr>
            <a:normAutofit/>
          </a:bodyPr>
          <a:lstStyle/>
          <a:p>
            <a:r>
              <a:rPr lang="en-US" sz="3200" dirty="0"/>
              <a:t>Bi-variate Analysis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2E67C6-E06E-A9A0-897E-06FA4CFD0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3633" y="2164360"/>
            <a:ext cx="5068567" cy="3340915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dirty="0"/>
              <a:t>INCOME GROUP vs DEFAULT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+mj-lt"/>
              </a:rPr>
              <a:t>Low-income group has highest default</a:t>
            </a:r>
            <a:endParaRPr lang="en-US" sz="1400" dirty="0">
              <a:solidFill>
                <a:srgbClr val="FFFFFF"/>
              </a:solidFill>
              <a:latin typeface="+mj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+mj-lt"/>
              </a:rPr>
              <a:t>Default decreases as income increases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+mj-lt"/>
              </a:rPr>
              <a:t>High-income group shows </a:t>
            </a:r>
            <a:r>
              <a:rPr lang="en-US" sz="1400" b="1" dirty="0">
                <a:solidFill>
                  <a:srgbClr val="FFFFFF"/>
                </a:solidFill>
                <a:latin typeface="+mj-lt"/>
              </a:rPr>
              <a:t>lowest risk</a:t>
            </a:r>
            <a:endParaRPr lang="en-US" sz="1400" dirty="0">
              <a:solidFill>
                <a:srgbClr val="FFFFFF"/>
              </a:solidFill>
              <a:latin typeface="+mj-lt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+mj-lt"/>
              </a:rPr>
              <a:t>Income is a </a:t>
            </a:r>
            <a:r>
              <a:rPr lang="en-US" sz="1400" b="1" dirty="0">
                <a:solidFill>
                  <a:srgbClr val="FFFFFF"/>
                </a:solidFill>
                <a:latin typeface="+mj-lt"/>
              </a:rPr>
              <a:t>significant risk indicator</a:t>
            </a:r>
            <a:endParaRPr lang="en-US" sz="1400" dirty="0">
              <a:solidFill>
                <a:srgbClr val="FFFFFF"/>
              </a:solidFill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3C9E6E-5D91-AC5A-D7DA-3A045CC64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974" y="1166482"/>
            <a:ext cx="4869634" cy="440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877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56198-8D47-D0C1-4D1D-2321E1208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C8D65-B6D1-AA80-7651-ABDA33405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632" y="1573111"/>
            <a:ext cx="5068567" cy="591249"/>
          </a:xfrm>
        </p:spPr>
        <p:txBody>
          <a:bodyPr>
            <a:normAutofit/>
          </a:bodyPr>
          <a:lstStyle/>
          <a:p>
            <a:r>
              <a:rPr lang="en-US" sz="3200" dirty="0"/>
              <a:t>Bi-variate Analysis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60DD9-4806-4229-45AB-E6AC9E1A1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3633" y="2164360"/>
            <a:ext cx="5068567" cy="3340915"/>
          </a:xfrm>
        </p:spPr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dirty="0"/>
              <a:t>HOUSING TYPE vs DEFAULT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dirty="0"/>
              <a:t>Highest volume: House / Apartment</a:t>
            </a:r>
            <a:br>
              <a:rPr lang="en-US" sz="1700" dirty="0"/>
            </a:br>
            <a:endParaRPr lang="en-US" sz="17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dirty="0"/>
              <a:t>Higher risk observed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Rented houses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Living with parents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Municipal housing</a:t>
            </a:r>
            <a:br>
              <a:rPr lang="en-US" sz="1700" dirty="0"/>
            </a:br>
            <a:endParaRPr lang="en-US" sz="17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700" dirty="0"/>
              <a:t>Home ownership indicates higher financial stability</a:t>
            </a:r>
          </a:p>
          <a:p>
            <a:br>
              <a:rPr lang="en-US" dirty="0"/>
            </a:br>
            <a:endParaRPr lang="en-IN" b="1" dirty="0"/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6B293CD7-1492-26E1-E7B1-FE2A11536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390" y="1072816"/>
            <a:ext cx="4809032" cy="47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0857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CDCD3-D736-EF54-5AE9-F9D12E7FC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34881-7933-5B6E-68E0-B6684A8AA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632" y="1573111"/>
            <a:ext cx="5068567" cy="591249"/>
          </a:xfrm>
        </p:spPr>
        <p:txBody>
          <a:bodyPr>
            <a:normAutofit/>
          </a:bodyPr>
          <a:lstStyle/>
          <a:p>
            <a:r>
              <a:rPr lang="en-US" sz="3200" dirty="0"/>
              <a:t>Bi-variate Analysis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24B4E6-2AF3-1737-AAB4-A5AF75014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3633" y="2164360"/>
            <a:ext cx="5068567" cy="3340915"/>
          </a:xfrm>
        </p:spPr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dirty="0"/>
              <a:t>OCCUPATION vs DEFAULT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Higher default observed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Laborer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Sales staff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Drivers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Lower default observed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IT professionals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Managers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High-skill technical staff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Occupation acts as a proxy for income stability</a:t>
            </a:r>
            <a:br>
              <a:rPr lang="en-US" dirty="0"/>
            </a:br>
            <a:endParaRPr lang="en-IN" b="1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ECF533F-2203-E2C8-C5D7-CF1D86A60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085" y="1302188"/>
            <a:ext cx="5068567" cy="3727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5021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33A25-74EF-2011-000E-784E01124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26164-DC04-FFEF-DBE1-C93AB2804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9103" y="2244829"/>
            <a:ext cx="8933796" cy="557093"/>
          </a:xfrm>
        </p:spPr>
        <p:txBody>
          <a:bodyPr>
            <a:noAutofit/>
          </a:bodyPr>
          <a:lstStyle/>
          <a:p>
            <a:r>
              <a:rPr lang="en-IN" sz="3600" dirty="0"/>
              <a:t>Hypothesis Testing Summary</a:t>
            </a:r>
            <a:endParaRPr lang="en-US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2781D0-BB48-4F2B-D413-5917ABF24D1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29103" y="3100612"/>
            <a:ext cx="858062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Income vs Default → Significant (p &lt; 0.05)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Gender vs Default → Significant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Education vs Default → Significant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Company vs Industry Default Rate → Higher than benchmark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dirty="0"/>
              <a:t>External Scores vs Default → Highly Significant</a:t>
            </a:r>
          </a:p>
          <a:p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78897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2A1C2-588B-723B-3CD8-33A305302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6D8EB-6EAA-E8C0-C172-C9DF4C85B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9103" y="2244829"/>
            <a:ext cx="8933796" cy="557093"/>
          </a:xfrm>
        </p:spPr>
        <p:txBody>
          <a:bodyPr>
            <a:noAutofit/>
          </a:bodyPr>
          <a:lstStyle/>
          <a:p>
            <a:r>
              <a:rPr lang="en-IN" sz="3600" dirty="0"/>
              <a:t>Key Risk Indicators</a:t>
            </a:r>
            <a:endParaRPr lang="en-US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356D86-736D-007F-9DD3-F39E696B25D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29103" y="3100608"/>
            <a:ext cx="858062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Low External Credit Scores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High EMI to Income Ratio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Low Income Levels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Unstable Occupation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Risky Housing Conditions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Younger Age with Low Work Experience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58757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95F42-C8B5-C491-41E0-94A1AD7EE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BC990-104F-EFCB-1B8B-58112C2E5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9103" y="2244829"/>
            <a:ext cx="8933796" cy="557093"/>
          </a:xfrm>
        </p:spPr>
        <p:txBody>
          <a:bodyPr>
            <a:noAutofit/>
          </a:bodyPr>
          <a:lstStyle/>
          <a:p>
            <a:r>
              <a:rPr lang="en-IN" sz="3600" dirty="0"/>
              <a:t>Loan Eligibility Criteria</a:t>
            </a:r>
            <a:endParaRPr lang="en-US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7E7A82-DAFF-552F-4ACD-28CE26A2DD1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87826" y="3117541"/>
            <a:ext cx="858062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High income + high external score → Low risk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Low income + low score → High risk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Stable employment → Better eligibility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Rented housing + high EMI → Risky eligibility                   </a:t>
            </a:r>
          </a:p>
        </p:txBody>
      </p:sp>
    </p:spTree>
    <p:extLst>
      <p:ext uri="{BB962C8B-B14F-4D97-AF65-F5344CB8AC3E}">
        <p14:creationId xmlns:p14="http://schemas.microsoft.com/office/powerpoint/2010/main" val="2076514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F07AF-D055-3E66-303D-EF1EAE736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380EC-5558-EE84-9E80-A53EED3511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9103" y="2244829"/>
            <a:ext cx="8933796" cy="557093"/>
          </a:xfrm>
        </p:spPr>
        <p:txBody>
          <a:bodyPr>
            <a:noAutofit/>
          </a:bodyPr>
          <a:lstStyle/>
          <a:p>
            <a:r>
              <a:rPr lang="en-IN" sz="3600" dirty="0"/>
              <a:t>Business Recommendation</a:t>
            </a:r>
            <a:endParaRPr lang="en-US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C7FA66-A749-EAF6-833A-F0D35E07F17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29103" y="3100604"/>
            <a:ext cx="858062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Use external scores as primary screening filter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Maintain EMI ≤ 40% of monthly income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Apply risk-based loan pricing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Limit high-risk loan exposure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Prefer stable jobs &amp; owned housing 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257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224ED-5975-1954-CD59-9618EF379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95670-0B61-ED25-B2DD-323DD6F7CF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9102" y="3150453"/>
            <a:ext cx="8933796" cy="557093"/>
          </a:xfrm>
        </p:spPr>
        <p:txBody>
          <a:bodyPr>
            <a:noAutofit/>
          </a:bodyPr>
          <a:lstStyle/>
          <a:p>
            <a:r>
              <a:rPr lang="en-US" sz="36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41612671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8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6A9A9"/>
      </a:accent1>
      <a:accent2>
        <a:srgbClr val="CB58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D0690C"/>
      </a:hlink>
      <a:folHlink>
        <a:srgbClr val="9696A0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3D0E2C-DCCF-4DCA-8700-60C67A2E1F44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13FC90C-E938-4D14-B988-1AABB7F8F3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802517-FD5A-4D6F-9BEF-6B50583B6D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Savon design</Template>
  <TotalTime>282</TotalTime>
  <Words>663</Words>
  <Application>Microsoft Office PowerPoint</Application>
  <PresentationFormat>Widescreen</PresentationFormat>
  <Paragraphs>118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Garamond</vt:lpstr>
      <vt:lpstr>SavonVTI</vt:lpstr>
      <vt:lpstr>Credit Risk Analysis</vt:lpstr>
      <vt:lpstr>Project Objective</vt:lpstr>
      <vt:lpstr>Dataset Overview</vt:lpstr>
      <vt:lpstr>Data Cleaning &amp; Feature Engineering</vt:lpstr>
      <vt:lpstr>Univariate Analysis</vt:lpstr>
      <vt:lpstr>Univariate Analysis</vt:lpstr>
      <vt:lpstr>Univariate Analysis</vt:lpstr>
      <vt:lpstr>Bi-variate Analysis</vt:lpstr>
      <vt:lpstr>Bi-variate Analysis</vt:lpstr>
      <vt:lpstr>Bi-variate Analysis</vt:lpstr>
      <vt:lpstr>Bi-variate Analysis</vt:lpstr>
      <vt:lpstr>Hypothesis Testing Summary</vt:lpstr>
      <vt:lpstr>Key Risk Indicators</vt:lpstr>
      <vt:lpstr>Loan Eligibility Criteria</vt:lpstr>
      <vt:lpstr>Business Recommendation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Jujare</dc:creator>
  <cp:lastModifiedBy>Akash Jujare</cp:lastModifiedBy>
  <cp:revision>6</cp:revision>
  <dcterms:created xsi:type="dcterms:W3CDTF">2025-12-08T02:58:52Z</dcterms:created>
  <dcterms:modified xsi:type="dcterms:W3CDTF">2025-12-08T07:41:43Z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